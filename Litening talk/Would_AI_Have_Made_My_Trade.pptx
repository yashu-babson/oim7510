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lk" id="{e39e75b2-9c41-c8d6-98bb-d4888cdc290c}">
          <p14:sldIdLst>
            <p14:sldId id="256"/>
            <p14:sldId id="257"/>
            <p14:sldId id="258"/>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[~5s] Hi everyone. My question today is: would AI have made my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For our first mini-project, I built a simple portfolio tool. It rebalances when a position drifts past a threshold. I tried 5 points, then 7. At 7, it traded less and paid fewer fees, but more cash sat idle. The code did exactly what I told it. But choosing the rule was the real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Before my MBA, I spent over ten years in trading and portfolio management in China. This was our trading room. Back then, when I had a strategy idea, I explained it to the PM, the PM explained it to IT, and the developers built it. That took weeks, sometimes months. Today I can build something like my mini-project myself, in days, with AI. And firms like Jane Street now run AI on custom chips. In just a few years, the whole way of working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But a rule only works until the market breaks it. One of our strategies traded the gap, the basis, between IF300 index futures and the ETF. They track the same 300 stocks, so normally the gap stays within about plus or minus 20 points. Then came an extreme market. The gap went far beyond anything our historical data said was possible. We had used up our available capital, and the gap kept getting worse. Futures are leveraged, so if we couldn't meet a margin call, we could be forced out at any time. As team lead, risk came first. At 80, I ordered a close-out. Not because I thought the trade was wrong, but to keep our ammunition. Then the gap hit 180. That yield was extremely high, and I knew it couldn't last. Once the market reacted, it would shrink fast. So we rebuilt the position. And it did shrink.
[IF 5 MIN] Add: how fast we had to decide, what the room felt like at 180, who I had to convince to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That time, we got a second chance. Not every decision gives you one. In another case, I cut a stock position and took a real loss: 50 million RMB. Later, that stock was liquidated, so we know exactly what holding would have cost: 200 million. But that number only exists afterward. When I made the call, no data looked like that situation. And on paper, my decision just says minus 50 million.
[IF 5 MIN] Add: what signal made me act, and how it felt to report a 50M loss without being able to prove the 200M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then discussion] So here is my question. An AI recommends closing a position and taking a big loss. You can't know yet if it's right. Would you? A: let the AI execute. Or B: require human approval. Hands up for A... and for B. [Call on one person from each side.] What would change your answer?
FOLLOW-UPS: If someone says the outcome proves it was right: Was it judgment or luck? What evidence, available BEFORE the outcome, would tell the difference? / Would your answer change with the size of the loss? The AI's track record? If it could explain its reasoning?
CLOSE: Thank you. Back to you, Professor.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6191E"/>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16191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lstStyle>
            <a:lvl1pPr algn="l" indent="0" marL="0">
              <a:buNone/>
              <a:defRPr lang="en-US" sz="3600" b="1" dirty="0">
                <a:solidFill>
                  <a:schemeClr val="bg1"/>
                </a:solidFill>
                <a:latin typeface="Arial" pitchFamily="34" charset="0"/>
                <a:ea typeface="Arial" pitchFamily="34" charset="-122"/>
                <a:cs typeface="Arial" pitchFamily="34" charset="-120"/>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rading room photo" descr="My former trading desk">    </p:cNvPr>
          <p:cNvPicPr>
            <a:picLocks noChangeAspect="1"/>
          </p:cNvPicPr>
          <p:nvPr/>
        </p:nvPicPr>
        <p:blipFill>
          <a:blip r:embed="rId1"/>
          <a:srcRect l="0" r="0" t="0" b="0"/>
          <a:stretch/>
        </p:blipFill>
        <p:spPr>
          <a:xfrm>
            <a:off x="0" y="0"/>
            <a:ext cx="12191695" cy="6858000"/>
          </a:xfrm>
          <a:prstGeom prst="rect">
            <a:avLst/>
          </a:prstGeom>
        </p:spPr>
      </p:pic>
      <p:sp>
        <p:nvSpPr>
          <p:cNvPr id="3" name="Light dim"/>
          <p:cNvSpPr/>
          <p:nvPr/>
        </p:nvSpPr>
        <p:spPr>
          <a:xfrm>
            <a:off x="0" y="0"/>
            <a:ext cx="12191695" cy="6858000"/>
          </a:xfrm>
          <a:prstGeom prst="rect">
            <a:avLst/>
          </a:prstGeom>
          <a:solidFill>
            <a:schemeClr val="tx1">
              <a:alpha val="30000"/>
            </a:schemeClr>
          </a:solidFill>
          <a:ln/>
        </p:spPr>
      </p:sp>
      <p:sp>
        <p:nvSpPr>
          <p:cNvPr id="4" name="Title panel"/>
          <p:cNvSpPr/>
          <p:nvPr/>
        </p:nvSpPr>
        <p:spPr>
          <a:xfrm>
            <a:off x="411480" y="1097280"/>
            <a:ext cx="5943600" cy="3749040"/>
          </a:xfrm>
          <a:prstGeom prst="roundRect">
            <a:avLst>
              <a:gd name="adj" fmla="val 3659"/>
            </a:avLst>
          </a:prstGeom>
          <a:solidFill>
            <a:schemeClr val="tx1">
              <a:alpha val="65000"/>
            </a:schemeClr>
          </a:solidFill>
          <a:ln/>
        </p:spPr>
      </p:sp>
      <p:sp>
        <p:nvSpPr>
          <p:cNvPr id="5" name="Kicker"/>
          <p:cNvSpPr txBox="1"/>
          <p:nvPr/>
        </p:nvSpPr>
        <p:spPr>
          <a:xfrm>
            <a:off x="777240" y="1417320"/>
            <a:ext cx="5303520" cy="365760"/>
          </a:xfrm>
          <a:prstGeom prst="rect">
            <a:avLst/>
          </a:prstGeom>
          <a:noFill/>
          <a:ln/>
        </p:spPr>
        <p:txBody>
          <a:bodyPr wrap="square" lIns="0" tIns="0" rIns="0" bIns="0" rtlCol="0" anchor="ctr"/>
          <a:lstStyle/>
          <a:p>
            <a:pPr indent="0" marL="0">
              <a:buNone/>
            </a:pPr>
            <a:r>
              <a:rPr lang="en-US" sz="1600" b="1" spc="300" kern="0" dirty="0">
                <a:solidFill>
                  <a:schemeClr val="accent1"/>
                </a:solidFill>
              </a:rPr>
              <a:t>OIM7510 · LIGHTNING TALK</a:t>
            </a:r>
            <a:endParaRPr lang="en-US" sz="1600" dirty="0"/>
          </a:p>
        </p:txBody>
      </p:sp>
      <p:sp>
        <p:nvSpPr>
          <p:cNvPr id="6" name="Title"/>
          <p:cNvSpPr txBox="1"/>
          <p:nvPr/>
        </p:nvSpPr>
        <p:spPr>
          <a:xfrm>
            <a:off x="777240" y="1874520"/>
            <a:ext cx="5303520" cy="1463040"/>
          </a:xfrm>
          <a:prstGeom prst="rect">
            <a:avLst/>
          </a:prstGeom>
          <a:noFill/>
          <a:ln/>
        </p:spPr>
        <p:txBody>
          <a:bodyPr wrap="square" lIns="0" tIns="0" rIns="0" bIns="0" rtlCol="0" anchor="t"/>
          <a:lstStyle/>
          <a:p>
            <a:pPr indent="0" marL="0">
              <a:buNone/>
            </a:pPr>
            <a:r>
              <a:rPr lang="en-US" sz="4400" b="1" dirty="0">
                <a:solidFill>
                  <a:schemeClr val="bg1"/>
                </a:solidFill>
                <a:latin typeface="Arial" pitchFamily="34" charset="0"/>
                <a:ea typeface="Arial" pitchFamily="34" charset="-122"/>
                <a:cs typeface="Arial" pitchFamily="34" charset="-120"/>
              </a:rPr>
              <a:t>Would AI Have Made My Trade?</a:t>
            </a:r>
            <a:endParaRPr lang="en-US" sz="4400" dirty="0"/>
          </a:p>
        </p:txBody>
      </p:sp>
      <p:sp>
        <p:nvSpPr>
          <p:cNvPr id="7" name="Subtitle"/>
          <p:cNvSpPr txBox="1"/>
          <p:nvPr/>
        </p:nvSpPr>
        <p:spPr>
          <a:xfrm>
            <a:off x="777240" y="3383280"/>
            <a:ext cx="5303520" cy="731520"/>
          </a:xfrm>
          <a:prstGeom prst="rect">
            <a:avLst/>
          </a:prstGeom>
          <a:noFill/>
          <a:ln/>
        </p:spPr>
        <p:txBody>
          <a:bodyPr wrap="square" lIns="0" tIns="0" rIns="0" bIns="0" rtlCol="0" anchor="ctr"/>
          <a:lstStyle/>
          <a:p>
            <a:pPr indent="0" marL="0">
              <a:buNone/>
            </a:pPr>
            <a:r>
              <a:rPr lang="en-US" sz="2000" i="1" dirty="0">
                <a:solidFill>
                  <a:schemeClr val="bg1"/>
                </a:solidFill>
              </a:rPr>
              <a:t>From a class mini-project, to a trading room, and back</a:t>
            </a:r>
            <a:endParaRPr lang="en-US" sz="2000" dirty="0"/>
          </a:p>
        </p:txBody>
      </p:sp>
      <p:sp>
        <p:nvSpPr>
          <p:cNvPr id="8" name="Byline"/>
          <p:cNvSpPr txBox="1"/>
          <p:nvPr/>
        </p:nvSpPr>
        <p:spPr>
          <a:xfrm>
            <a:off x="777240" y="4206240"/>
            <a:ext cx="5303520" cy="365760"/>
          </a:xfrm>
          <a:prstGeom prst="rect">
            <a:avLst/>
          </a:prstGeom>
          <a:noFill/>
          <a:ln/>
        </p:spPr>
        <p:txBody>
          <a:bodyPr wrap="square" lIns="0" tIns="0" rIns="0" bIns="0" rtlCol="0" anchor="ctr"/>
          <a:lstStyle/>
          <a:p>
            <a:pPr indent="0" marL="0">
              <a:buNone/>
            </a:pPr>
            <a:r>
              <a:rPr lang="en-US" sz="1600" dirty="0">
                <a:solidFill>
                  <a:schemeClr val="accent5"/>
                </a:solidFill>
              </a:rPr>
              <a:t>Yashu  ·  Oct 20,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latin typeface="Arial" pitchFamily="34" charset="0"/>
                <a:ea typeface="Arial" pitchFamily="34" charset="-122"/>
                <a:cs typeface="Arial" pitchFamily="34" charset="-120"/>
              </a:rPr>
              <a:t>I wrote the rule. The code followed it.</a:t>
            </a:r>
            <a:endParaRPr lang="en-US" sz="3600" dirty="0"/>
          </a:p>
        </p:txBody>
      </p:sp>
      <p:sp>
        <p:nvSpPr>
          <p:cNvPr id="3" name="Context"/>
          <p:cNvSpPr txBox="1"/>
          <p:nvPr/>
        </p:nvSpPr>
        <p:spPr>
          <a:xfrm>
            <a:off x="548640" y="1325880"/>
            <a:ext cx="11064240" cy="457200"/>
          </a:xfrm>
          <a:prstGeom prst="rect">
            <a:avLst/>
          </a:prstGeom>
          <a:noFill/>
          <a:ln/>
        </p:spPr>
        <p:txBody>
          <a:bodyPr wrap="square" lIns="0" tIns="0" rIns="0" bIns="0" rtlCol="0" anchor="ctr"/>
          <a:lstStyle/>
          <a:p>
            <a:pPr indent="0" marL="0">
              <a:buNone/>
            </a:pPr>
            <a:r>
              <a:rPr lang="en-US" sz="2000" dirty="0">
                <a:solidFill>
                  <a:schemeClr val="accent5"/>
                </a:solidFill>
              </a:rPr>
              <a:t>Mini-project 1: a simple portfolio tool</a:t>
            </a:r>
            <a:endParaRPr lang="en-US" sz="2000" dirty="0"/>
          </a:p>
        </p:txBody>
      </p:sp>
      <p:sp>
        <p:nvSpPr>
          <p:cNvPr id="4" name="Five card"/>
          <p:cNvSpPr/>
          <p:nvPr/>
        </p:nvSpPr>
        <p:spPr>
          <a:xfrm>
            <a:off x="548640" y="2103120"/>
            <a:ext cx="4754880" cy="2743200"/>
          </a:xfrm>
          <a:prstGeom prst="roundRect">
            <a:avLst>
              <a:gd name="adj" fmla="val 4000"/>
            </a:avLst>
          </a:prstGeom>
          <a:solidFill>
            <a:schemeClr val="accent6"/>
          </a:solidFill>
          <a:ln w="12700">
            <a:solidFill>
              <a:schemeClr val="accent6"/>
            </a:solidFill>
            <a:prstDash val="solid"/>
          </a:ln>
        </p:spPr>
      </p:sp>
      <p:sp>
        <p:nvSpPr>
          <p:cNvPr id="5" name="Five label"/>
          <p:cNvSpPr txBox="1"/>
          <p:nvPr/>
        </p:nvSpPr>
        <p:spPr>
          <a:xfrm>
            <a:off x="914400" y="2331720"/>
            <a:ext cx="4023360" cy="365760"/>
          </a:xfrm>
          <a:prstGeom prst="rect">
            <a:avLst/>
          </a:prstGeom>
          <a:noFill/>
          <a:ln/>
        </p:spPr>
        <p:txBody>
          <a:bodyPr wrap="square" lIns="0" tIns="0" rIns="0" bIns="0" rtlCol="0" anchor="ctr"/>
          <a:lstStyle/>
          <a:p>
            <a:pPr indent="0" marL="0">
              <a:buNone/>
            </a:pPr>
            <a:r>
              <a:rPr lang="en-US" sz="1600" dirty="0">
                <a:solidFill>
                  <a:schemeClr val="accent5"/>
                </a:solidFill>
              </a:rPr>
              <a:t>Rebalancing threshold</a:t>
            </a:r>
            <a:endParaRPr lang="en-US" sz="1600" dirty="0"/>
          </a:p>
        </p:txBody>
      </p:sp>
      <p:sp>
        <p:nvSpPr>
          <p:cNvPr id="6" name="Five value"/>
          <p:cNvSpPr txBox="1"/>
          <p:nvPr/>
        </p:nvSpPr>
        <p:spPr>
          <a:xfrm>
            <a:off x="914400" y="2697480"/>
            <a:ext cx="4023360" cy="914400"/>
          </a:xfrm>
          <a:prstGeom prst="rect">
            <a:avLst/>
          </a:prstGeom>
          <a:noFill/>
          <a:ln/>
        </p:spPr>
        <p:txBody>
          <a:bodyPr wrap="square" lIns="0" tIns="0" rIns="0" bIns="0" rtlCol="0" anchor="ctr"/>
          <a:lstStyle/>
          <a:p>
            <a:pPr indent="0" marL="0">
              <a:buNone/>
            </a:pPr>
            <a:r>
              <a:rPr lang="en-US" sz="5400" b="1" dirty="0">
                <a:solidFill>
                  <a:schemeClr val="accent4"/>
                </a:solidFill>
                <a:latin typeface="Arial" pitchFamily="34" charset="0"/>
                <a:ea typeface="Arial" pitchFamily="34" charset="-122"/>
                <a:cs typeface="Arial" pitchFamily="34" charset="-120"/>
              </a:rPr>
              <a:t>5 pts</a:t>
            </a:r>
            <a:endParaRPr lang="en-US" sz="5400" dirty="0"/>
          </a:p>
        </p:txBody>
      </p:sp>
      <p:sp>
        <p:nvSpPr>
          <p:cNvPr id="7" name="Five effects"/>
          <p:cNvSpPr txBox="1"/>
          <p:nvPr/>
        </p:nvSpPr>
        <p:spPr>
          <a:xfrm>
            <a:off x="914400" y="3703320"/>
            <a:ext cx="4023360" cy="914400"/>
          </a:xfrm>
          <a:prstGeom prst="rect">
            <a:avLst/>
          </a:prstGeom>
          <a:noFill/>
          <a:ln/>
        </p:spPr>
        <p:txBody>
          <a:bodyPr wrap="square" lIns="0" tIns="0" rIns="0" bIns="0" rtlCol="0" anchor="t"/>
          <a:lstStyle/>
          <a:p>
            <a:pPr marL="342900" indent="-342900">
              <a:spcAft>
                <a:spcPts val="400"/>
              </a:spcAft>
              <a:buSzPct val="100000"/>
              <a:buChar char="•"/>
            </a:pPr>
            <a:r>
              <a:rPr lang="en-US" sz="2200" dirty="0">
                <a:solidFill>
                  <a:schemeClr val="bg2"/>
                </a:solidFill>
              </a:rPr>
              <a:t>More trades</a:t>
            </a:r>
            <a:endParaRPr lang="en-US" sz="2200" dirty="0"/>
          </a:p>
          <a:p>
            <a:pPr marL="342900" indent="-342900">
              <a:spcAft>
                <a:spcPts val="400"/>
              </a:spcAft>
              <a:buSzPct val="100000"/>
              <a:buChar char="•"/>
            </a:pPr>
            <a:r>
              <a:rPr lang="en-US" sz="2200" dirty="0">
                <a:solidFill>
                  <a:schemeClr val="bg2"/>
                </a:solidFill>
              </a:rPr>
              <a:t>Higher fees</a:t>
            </a:r>
            <a:endParaRPr lang="en-US" sz="2200" dirty="0"/>
          </a:p>
        </p:txBody>
      </p:sp>
      <p:sp>
        <p:nvSpPr>
          <p:cNvPr id="8" name="Seven card"/>
          <p:cNvSpPr/>
          <p:nvPr/>
        </p:nvSpPr>
        <p:spPr>
          <a:xfrm>
            <a:off x="6858000" y="2103120"/>
            <a:ext cx="4754880" cy="2743200"/>
          </a:xfrm>
          <a:prstGeom prst="roundRect">
            <a:avLst>
              <a:gd name="adj" fmla="val 4000"/>
            </a:avLst>
          </a:prstGeom>
          <a:solidFill>
            <a:schemeClr val="accent6"/>
          </a:solidFill>
          <a:ln w="12700">
            <a:solidFill>
              <a:schemeClr val="accent6"/>
            </a:solidFill>
            <a:prstDash val="solid"/>
          </a:ln>
        </p:spPr>
      </p:sp>
      <p:sp>
        <p:nvSpPr>
          <p:cNvPr id="9" name="Seven label"/>
          <p:cNvSpPr txBox="1"/>
          <p:nvPr/>
        </p:nvSpPr>
        <p:spPr>
          <a:xfrm>
            <a:off x="7223760" y="2331720"/>
            <a:ext cx="4023360" cy="365760"/>
          </a:xfrm>
          <a:prstGeom prst="rect">
            <a:avLst/>
          </a:prstGeom>
          <a:noFill/>
          <a:ln/>
        </p:spPr>
        <p:txBody>
          <a:bodyPr wrap="square" lIns="0" tIns="0" rIns="0" bIns="0" rtlCol="0" anchor="ctr"/>
          <a:lstStyle/>
          <a:p>
            <a:pPr indent="0" marL="0">
              <a:buNone/>
            </a:pPr>
            <a:r>
              <a:rPr lang="en-US" sz="1600" dirty="0">
                <a:solidFill>
                  <a:schemeClr val="accent5"/>
                </a:solidFill>
              </a:rPr>
              <a:t>Rebalancing threshold</a:t>
            </a:r>
            <a:endParaRPr lang="en-US" sz="1600" dirty="0"/>
          </a:p>
        </p:txBody>
      </p:sp>
      <p:sp>
        <p:nvSpPr>
          <p:cNvPr id="10" name="Seven value"/>
          <p:cNvSpPr txBox="1"/>
          <p:nvPr/>
        </p:nvSpPr>
        <p:spPr>
          <a:xfrm>
            <a:off x="7223760" y="2697480"/>
            <a:ext cx="4023360" cy="91440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7 pts</a:t>
            </a:r>
            <a:endParaRPr lang="en-US" sz="5400" dirty="0"/>
          </a:p>
        </p:txBody>
      </p:sp>
      <p:sp>
        <p:nvSpPr>
          <p:cNvPr id="11" name="Seven effects"/>
          <p:cNvSpPr txBox="1"/>
          <p:nvPr/>
        </p:nvSpPr>
        <p:spPr>
          <a:xfrm>
            <a:off x="7223760" y="3703320"/>
            <a:ext cx="4023360" cy="914400"/>
          </a:xfrm>
          <a:prstGeom prst="rect">
            <a:avLst/>
          </a:prstGeom>
          <a:noFill/>
          <a:ln/>
        </p:spPr>
        <p:txBody>
          <a:bodyPr wrap="square" lIns="0" tIns="0" rIns="0" bIns="0" rtlCol="0" anchor="t"/>
          <a:lstStyle/>
          <a:p>
            <a:pPr marL="342900" indent="-342900">
              <a:spcAft>
                <a:spcPts val="400"/>
              </a:spcAft>
              <a:buSzPct val="100000"/>
              <a:buChar char="•"/>
            </a:pPr>
            <a:r>
              <a:rPr lang="en-US" sz="2200" dirty="0">
                <a:solidFill>
                  <a:schemeClr val="bg2"/>
                </a:solidFill>
              </a:rPr>
              <a:t>Fewer trades, lower fees</a:t>
            </a:r>
            <a:endParaRPr lang="en-US" sz="2200" dirty="0"/>
          </a:p>
          <a:p>
            <a:pPr marL="342900" indent="-342900">
              <a:spcAft>
                <a:spcPts val="400"/>
              </a:spcAft>
              <a:buSzPct val="100000"/>
              <a:buChar char="•"/>
            </a:pPr>
            <a:r>
              <a:rPr lang="en-US" sz="2200" dirty="0">
                <a:solidFill>
                  <a:schemeClr val="bg2"/>
                </a:solidFill>
              </a:rPr>
              <a:t>But more idle cash</a:t>
            </a:r>
            <a:endParaRPr lang="en-US" sz="2200" dirty="0"/>
          </a:p>
        </p:txBody>
      </p:sp>
      <p:sp>
        <p:nvSpPr>
          <p:cNvPr id="12" name="Arrow"/>
          <p:cNvSpPr/>
          <p:nvPr/>
        </p:nvSpPr>
        <p:spPr>
          <a:xfrm>
            <a:off x="5532120" y="3200400"/>
            <a:ext cx="1097280" cy="548640"/>
          </a:xfrm>
          <a:prstGeom prst="rightArrow">
            <a:avLst/>
          </a:prstGeom>
          <a:solidFill>
            <a:schemeClr val="accent5"/>
          </a:solidFill>
          <a:ln w="12700">
            <a:solidFill>
              <a:schemeClr val="accent5"/>
            </a:solidFill>
            <a:prstDash val="solid"/>
          </a:ln>
        </p:spPr>
      </p:sp>
      <p:sp>
        <p:nvSpPr>
          <p:cNvPr id="13" name="Takeaway"/>
          <p:cNvSpPr txBox="1"/>
          <p:nvPr/>
        </p:nvSpPr>
        <p:spPr>
          <a:xfrm>
            <a:off x="548640" y="5349240"/>
            <a:ext cx="11064240" cy="548640"/>
          </a:xfrm>
          <a:prstGeom prst="rect">
            <a:avLst/>
          </a:prstGeom>
          <a:noFill/>
          <a:ln/>
        </p:spPr>
        <p:txBody>
          <a:bodyPr wrap="square" lIns="0" tIns="0" rIns="0" bIns="0" rtlCol="0" anchor="ctr"/>
          <a:lstStyle/>
          <a:p>
            <a:pPr indent="0" marL="0">
              <a:buNone/>
            </a:pPr>
            <a:r>
              <a:rPr lang="en-US" sz="2600" b="1" i="1" dirty="0">
                <a:solidFill>
                  <a:schemeClr val="accent1"/>
                </a:solidFill>
              </a:rPr>
              <a:t>The code follows the rule. Choosing the rule is the real decision.</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latin typeface="Arial" pitchFamily="34" charset="0"/>
                <a:ea typeface="Arial" pitchFamily="34" charset="-122"/>
                <a:cs typeface="Arial" pitchFamily="34" charset="-120"/>
              </a:rPr>
              <a:t>A few years ago, this took a team</a:t>
            </a:r>
            <a:endParaRPr lang="en-US" sz="3600" dirty="0"/>
          </a:p>
        </p:txBody>
      </p:sp>
      <p:pic>
        <p:nvPicPr>
          <p:cNvPr id="3" name="Trading room photo 2" descr="Our trading room">    </p:cNvPr>
          <p:cNvPicPr>
            <a:picLocks noChangeAspect="1"/>
          </p:cNvPicPr>
          <p:nvPr/>
        </p:nvPicPr>
        <p:blipFill>
          <a:blip r:embed="rId1"/>
          <a:srcRect l="0" r="0" t="0" b="0"/>
          <a:stretch/>
        </p:blipFill>
        <p:spPr>
          <a:xfrm>
            <a:off x="548640" y="1463040"/>
            <a:ext cx="5852160" cy="4389120"/>
          </a:xfrm>
          <a:prstGeom prst="rect">
            <a:avLst/>
          </a:prstGeom>
        </p:spPr>
      </p:pic>
      <p:sp>
        <p:nvSpPr>
          <p:cNvPr id="4" name="Photo caption"/>
          <p:cNvSpPr txBox="1"/>
          <p:nvPr/>
        </p:nvSpPr>
        <p:spPr>
          <a:xfrm>
            <a:off x="548640" y="5943600"/>
            <a:ext cx="5852160" cy="320040"/>
          </a:xfrm>
          <a:prstGeom prst="rect">
            <a:avLst/>
          </a:prstGeom>
          <a:noFill/>
          <a:ln/>
        </p:spPr>
        <p:txBody>
          <a:bodyPr wrap="square" lIns="0" tIns="0" rIns="0" bIns="0" rtlCol="0" anchor="ctr"/>
          <a:lstStyle/>
          <a:p>
            <a:pPr indent="0" marL="0">
              <a:buNone/>
            </a:pPr>
            <a:r>
              <a:rPr lang="en-US" sz="1400" i="1" dirty="0">
                <a:solidFill>
                  <a:schemeClr val="accent5"/>
                </a:solidFill>
              </a:rPr>
              <a:t>Our trading room</a:t>
            </a:r>
            <a:endParaRPr lang="en-US" sz="1400" dirty="0"/>
          </a:p>
        </p:txBody>
      </p:sp>
      <p:sp>
        <p:nvSpPr>
          <p:cNvPr id="5" name="Then label"/>
          <p:cNvSpPr txBox="1"/>
          <p:nvPr/>
        </p:nvSpPr>
        <p:spPr>
          <a:xfrm>
            <a:off x="6949440" y="1463040"/>
            <a:ext cx="4663440" cy="365760"/>
          </a:xfrm>
          <a:prstGeom prst="rect">
            <a:avLst/>
          </a:prstGeom>
          <a:noFill/>
          <a:ln/>
        </p:spPr>
        <p:txBody>
          <a:bodyPr wrap="square" lIns="0" tIns="0" rIns="0" bIns="0" rtlCol="0" anchor="ctr"/>
          <a:lstStyle/>
          <a:p>
            <a:pPr indent="0" marL="0">
              <a:buNone/>
            </a:pPr>
            <a:r>
              <a:rPr lang="en-US" sz="1600" b="1" spc="300" kern="0" dirty="0">
                <a:solidFill>
                  <a:schemeClr val="accent5"/>
                </a:solidFill>
              </a:rPr>
              <a:t>THEN</a:t>
            </a:r>
            <a:endParaRPr lang="en-US" sz="1600" dirty="0"/>
          </a:p>
        </p:txBody>
      </p:sp>
      <p:sp>
        <p:nvSpPr>
          <p:cNvPr id="6" name="Step Trader"/>
          <p:cNvSpPr/>
          <p:nvPr/>
        </p:nvSpPr>
        <p:spPr>
          <a:xfrm>
            <a:off x="6949440" y="1920240"/>
            <a:ext cx="1371600" cy="685800"/>
          </a:xfrm>
          <a:prstGeom prst="roundRect">
            <a:avLst>
              <a:gd name="adj" fmla="val 10667"/>
            </a:avLst>
          </a:prstGeom>
          <a:solidFill>
            <a:schemeClr val="accent6"/>
          </a:solidFill>
          <a:ln w="12700">
            <a:solidFill>
              <a:schemeClr val="accent6"/>
            </a:solidFill>
            <a:prstDash val="solid"/>
          </a:ln>
        </p:spPr>
      </p:sp>
      <p:sp>
        <p:nvSpPr>
          <p:cNvPr id="7" name="Step text Trader"/>
          <p:cNvSpPr txBox="1"/>
          <p:nvPr/>
        </p:nvSpPr>
        <p:spPr>
          <a:xfrm>
            <a:off x="6949440" y="1920240"/>
            <a:ext cx="1371600" cy="685800"/>
          </a:xfrm>
          <a:prstGeom prst="rect">
            <a:avLst/>
          </a:prstGeom>
          <a:noFill/>
          <a:ln/>
        </p:spPr>
        <p:txBody>
          <a:bodyPr wrap="square" lIns="0" tIns="0" rIns="0" bIns="0" rtlCol="0" anchor="ctr"/>
          <a:lstStyle/>
          <a:p>
            <a:pPr algn="ctr" indent="0" marL="0">
              <a:buNone/>
            </a:pPr>
            <a:r>
              <a:rPr lang="en-US" sz="1600" b="1" dirty="0">
                <a:solidFill>
                  <a:schemeClr val="bg1"/>
                </a:solidFill>
              </a:rPr>
              <a:t>Trader</a:t>
            </a:r>
            <a:endParaRPr lang="en-US" sz="1600" dirty="0"/>
          </a:p>
        </p:txBody>
      </p:sp>
      <p:sp>
        <p:nvSpPr>
          <p:cNvPr id="8" name="Arrow 0"/>
          <p:cNvSpPr txBox="1"/>
          <p:nvPr/>
        </p:nvSpPr>
        <p:spPr>
          <a:xfrm>
            <a:off x="8321040" y="1920240"/>
            <a:ext cx="228600" cy="685800"/>
          </a:xfrm>
          <a:prstGeom prst="rect">
            <a:avLst/>
          </a:prstGeom>
          <a:noFill/>
          <a:ln/>
        </p:spPr>
        <p:txBody>
          <a:bodyPr wrap="square" lIns="0" tIns="0" rIns="0" bIns="0" rtlCol="0" anchor="ctr"/>
          <a:lstStyle/>
          <a:p>
            <a:pPr algn="ctr" indent="0" marL="0">
              <a:buNone/>
            </a:pPr>
            <a:r>
              <a:rPr lang="en-US" sz="1800" dirty="0">
                <a:solidFill>
                  <a:schemeClr val="accent5"/>
                </a:solidFill>
              </a:rPr>
              <a:t>→</a:t>
            </a:r>
            <a:endParaRPr lang="en-US" sz="1800" dirty="0"/>
          </a:p>
        </p:txBody>
      </p:sp>
      <p:sp>
        <p:nvSpPr>
          <p:cNvPr id="9" name="Step PM"/>
          <p:cNvSpPr/>
          <p:nvPr/>
        </p:nvSpPr>
        <p:spPr>
          <a:xfrm>
            <a:off x="8549640" y="1920240"/>
            <a:ext cx="1371600" cy="685800"/>
          </a:xfrm>
          <a:prstGeom prst="roundRect">
            <a:avLst>
              <a:gd name="adj" fmla="val 10667"/>
            </a:avLst>
          </a:prstGeom>
          <a:solidFill>
            <a:schemeClr val="accent6"/>
          </a:solidFill>
          <a:ln w="12700">
            <a:solidFill>
              <a:schemeClr val="accent6"/>
            </a:solidFill>
            <a:prstDash val="solid"/>
          </a:ln>
        </p:spPr>
      </p:sp>
      <p:sp>
        <p:nvSpPr>
          <p:cNvPr id="10" name="Step text PM"/>
          <p:cNvSpPr txBox="1"/>
          <p:nvPr/>
        </p:nvSpPr>
        <p:spPr>
          <a:xfrm>
            <a:off x="8549640" y="1920240"/>
            <a:ext cx="1371600" cy="685800"/>
          </a:xfrm>
          <a:prstGeom prst="rect">
            <a:avLst/>
          </a:prstGeom>
          <a:noFill/>
          <a:ln/>
        </p:spPr>
        <p:txBody>
          <a:bodyPr wrap="square" lIns="0" tIns="0" rIns="0" bIns="0" rtlCol="0" anchor="ctr"/>
          <a:lstStyle/>
          <a:p>
            <a:pPr algn="ctr" indent="0" marL="0">
              <a:buNone/>
            </a:pPr>
            <a:r>
              <a:rPr lang="en-US" sz="1600" b="1" dirty="0">
                <a:solidFill>
                  <a:schemeClr val="bg1"/>
                </a:solidFill>
              </a:rPr>
              <a:t>PM</a:t>
            </a:r>
            <a:endParaRPr lang="en-US" sz="1600" dirty="0"/>
          </a:p>
        </p:txBody>
      </p:sp>
      <p:sp>
        <p:nvSpPr>
          <p:cNvPr id="11" name="Arrow 1"/>
          <p:cNvSpPr txBox="1"/>
          <p:nvPr/>
        </p:nvSpPr>
        <p:spPr>
          <a:xfrm>
            <a:off x="9921240" y="1920240"/>
            <a:ext cx="228600" cy="685800"/>
          </a:xfrm>
          <a:prstGeom prst="rect">
            <a:avLst/>
          </a:prstGeom>
          <a:noFill/>
          <a:ln/>
        </p:spPr>
        <p:txBody>
          <a:bodyPr wrap="square" lIns="0" tIns="0" rIns="0" bIns="0" rtlCol="0" anchor="ctr"/>
          <a:lstStyle/>
          <a:p>
            <a:pPr algn="ctr" indent="0" marL="0">
              <a:buNone/>
            </a:pPr>
            <a:r>
              <a:rPr lang="en-US" sz="1800" dirty="0">
                <a:solidFill>
                  <a:schemeClr val="accent5"/>
                </a:solidFill>
              </a:rPr>
              <a:t>→</a:t>
            </a:r>
            <a:endParaRPr lang="en-US" sz="1800" dirty="0"/>
          </a:p>
        </p:txBody>
      </p:sp>
      <p:sp>
        <p:nvSpPr>
          <p:cNvPr id="12" name="Step IT developers"/>
          <p:cNvSpPr/>
          <p:nvPr/>
        </p:nvSpPr>
        <p:spPr>
          <a:xfrm>
            <a:off x="10149840" y="1920240"/>
            <a:ext cx="1371600" cy="685800"/>
          </a:xfrm>
          <a:prstGeom prst="roundRect">
            <a:avLst>
              <a:gd name="adj" fmla="val 10667"/>
            </a:avLst>
          </a:prstGeom>
          <a:solidFill>
            <a:schemeClr val="accent6"/>
          </a:solidFill>
          <a:ln w="12700">
            <a:solidFill>
              <a:schemeClr val="accent6"/>
            </a:solidFill>
            <a:prstDash val="solid"/>
          </a:ln>
        </p:spPr>
      </p:sp>
      <p:sp>
        <p:nvSpPr>
          <p:cNvPr id="13" name="Step text IT developers"/>
          <p:cNvSpPr txBox="1"/>
          <p:nvPr/>
        </p:nvSpPr>
        <p:spPr>
          <a:xfrm>
            <a:off x="10149840" y="1920240"/>
            <a:ext cx="1371600" cy="685800"/>
          </a:xfrm>
          <a:prstGeom prst="rect">
            <a:avLst/>
          </a:prstGeom>
          <a:noFill/>
          <a:ln/>
        </p:spPr>
        <p:txBody>
          <a:bodyPr wrap="square" lIns="0" tIns="0" rIns="0" bIns="0" rtlCol="0" anchor="ctr"/>
          <a:lstStyle/>
          <a:p>
            <a:pPr algn="ctr" indent="0" marL="0">
              <a:buNone/>
            </a:pPr>
            <a:r>
              <a:rPr lang="en-US" sz="1600" b="1" dirty="0">
                <a:solidFill>
                  <a:schemeClr val="bg1"/>
                </a:solidFill>
              </a:rPr>
              <a:t>IT developers</a:t>
            </a:r>
            <a:endParaRPr lang="en-US" sz="1600" dirty="0"/>
          </a:p>
        </p:txBody>
      </p:sp>
      <p:sp>
        <p:nvSpPr>
          <p:cNvPr id="14" name="Then time"/>
          <p:cNvSpPr txBox="1"/>
          <p:nvPr/>
        </p:nvSpPr>
        <p:spPr>
          <a:xfrm>
            <a:off x="6949440" y="2743200"/>
            <a:ext cx="4663440" cy="548640"/>
          </a:xfrm>
          <a:prstGeom prst="rect">
            <a:avLst/>
          </a:prstGeom>
          <a:noFill/>
          <a:ln/>
        </p:spPr>
        <p:txBody>
          <a:bodyPr wrap="square" lIns="0" tIns="0" rIns="0" bIns="0" rtlCol="0" anchor="ctr"/>
          <a:lstStyle/>
          <a:p>
            <a:pPr indent="0" marL="0">
              <a:buNone/>
            </a:pPr>
            <a:r>
              <a:rPr lang="en-US" sz="2800" b="1" dirty="0">
                <a:solidFill>
                  <a:schemeClr val="accent4"/>
                </a:solidFill>
                <a:latin typeface="Arial" pitchFamily="34" charset="0"/>
                <a:ea typeface="Arial" pitchFamily="34" charset="-122"/>
                <a:cs typeface="Arial" pitchFamily="34" charset="-120"/>
              </a:rPr>
              <a:t>Weeks to months</a:t>
            </a:r>
            <a:endParaRPr lang="en-US" sz="2800" dirty="0"/>
          </a:p>
        </p:txBody>
      </p:sp>
      <p:sp>
        <p:nvSpPr>
          <p:cNvPr id="15" name="Now label"/>
          <p:cNvSpPr txBox="1"/>
          <p:nvPr/>
        </p:nvSpPr>
        <p:spPr>
          <a:xfrm>
            <a:off x="6949440" y="3657600"/>
            <a:ext cx="4663440" cy="365760"/>
          </a:xfrm>
          <a:prstGeom prst="rect">
            <a:avLst/>
          </a:prstGeom>
          <a:noFill/>
          <a:ln/>
        </p:spPr>
        <p:txBody>
          <a:bodyPr wrap="square" lIns="0" tIns="0" rIns="0" bIns="0" rtlCol="0" anchor="ctr"/>
          <a:lstStyle/>
          <a:p>
            <a:pPr indent="0" marL="0">
              <a:buNone/>
            </a:pPr>
            <a:r>
              <a:rPr lang="en-US" sz="1600" b="1" spc="300" kern="0" dirty="0">
                <a:solidFill>
                  <a:schemeClr val="accent5"/>
                </a:solidFill>
              </a:rPr>
              <a:t>NOW</a:t>
            </a:r>
            <a:endParaRPr lang="en-US" sz="1600" dirty="0"/>
          </a:p>
        </p:txBody>
      </p:sp>
      <p:sp>
        <p:nvSpPr>
          <p:cNvPr id="16" name="Now box"/>
          <p:cNvSpPr/>
          <p:nvPr/>
        </p:nvSpPr>
        <p:spPr>
          <a:xfrm>
            <a:off x="6949440" y="4114800"/>
            <a:ext cx="4480560" cy="685800"/>
          </a:xfrm>
          <a:prstGeom prst="roundRect">
            <a:avLst>
              <a:gd name="adj" fmla="val 10667"/>
            </a:avLst>
          </a:prstGeom>
          <a:solidFill>
            <a:schemeClr val="accent6"/>
          </a:solidFill>
          <a:ln w="12700">
            <a:solidFill>
              <a:schemeClr val="accent6"/>
            </a:solidFill>
            <a:prstDash val="solid"/>
          </a:ln>
        </p:spPr>
      </p:sp>
      <p:sp>
        <p:nvSpPr>
          <p:cNvPr id="17" name="Now text"/>
          <p:cNvSpPr txBox="1"/>
          <p:nvPr/>
        </p:nvSpPr>
        <p:spPr>
          <a:xfrm>
            <a:off x="6949440" y="4114800"/>
            <a:ext cx="4480560" cy="685800"/>
          </a:xfrm>
          <a:prstGeom prst="rect">
            <a:avLst/>
          </a:prstGeom>
          <a:noFill/>
          <a:ln/>
        </p:spPr>
        <p:txBody>
          <a:bodyPr wrap="square" lIns="0" tIns="0" rIns="0" bIns="0" rtlCol="0" anchor="ctr"/>
          <a:lstStyle/>
          <a:p>
            <a:pPr algn="ctr" indent="0" marL="0">
              <a:buNone/>
            </a:pPr>
            <a:r>
              <a:rPr lang="en-US" sz="1800" b="1" dirty="0">
                <a:solidFill>
                  <a:schemeClr val="bg1"/>
                </a:solidFill>
              </a:rPr>
              <a:t>One person + AI coding tools</a:t>
            </a:r>
            <a:endParaRPr lang="en-US" sz="1800" dirty="0"/>
          </a:p>
        </p:txBody>
      </p:sp>
      <p:sp>
        <p:nvSpPr>
          <p:cNvPr id="18" name="Now time"/>
          <p:cNvSpPr txBox="1"/>
          <p:nvPr/>
        </p:nvSpPr>
        <p:spPr>
          <a:xfrm>
            <a:off x="6949440" y="4937760"/>
            <a:ext cx="4663440" cy="548640"/>
          </a:xfrm>
          <a:prstGeom prst="rect">
            <a:avLst/>
          </a:prstGeom>
          <a:noFill/>
          <a:ln/>
        </p:spPr>
        <p:txBody>
          <a:bodyPr wrap="square" lIns="0" tIns="0" rIns="0" bIns="0" rtlCol="0" anchor="ctr"/>
          <a:lstStyle/>
          <a:p>
            <a:pPr indent="0" marL="0">
              <a:buNone/>
            </a:pPr>
            <a:r>
              <a:rPr lang="en-US" sz="2800" b="1" dirty="0">
                <a:solidFill>
                  <a:schemeClr val="accent1"/>
                </a:solidFill>
                <a:latin typeface="Arial" pitchFamily="34" charset="0"/>
                <a:ea typeface="Arial" pitchFamily="34" charset="-122"/>
                <a:cs typeface="Arial" pitchFamily="34" charset="-120"/>
              </a:rPr>
              <a:t>Days</a:t>
            </a:r>
            <a:endParaRPr lang="en-US" sz="2800" dirty="0"/>
          </a:p>
        </p:txBody>
      </p:sp>
      <p:sp>
        <p:nvSpPr>
          <p:cNvPr id="19" name="Etched note"/>
          <p:cNvSpPr txBox="1"/>
          <p:nvPr/>
        </p:nvSpPr>
        <p:spPr>
          <a:xfrm>
            <a:off x="6949440" y="5623560"/>
            <a:ext cx="4663440" cy="640080"/>
          </a:xfrm>
          <a:prstGeom prst="rect">
            <a:avLst/>
          </a:prstGeom>
          <a:noFill/>
          <a:ln/>
        </p:spPr>
        <p:txBody>
          <a:bodyPr wrap="square" lIns="0" tIns="0" rIns="0" bIns="0" rtlCol="0" anchor="ctr"/>
          <a:lstStyle/>
          <a:p>
            <a:pPr indent="0" marL="0">
              <a:buNone/>
            </a:pPr>
            <a:r>
              <a:rPr lang="en-US" sz="1600" i="1" dirty="0">
                <a:solidFill>
                  <a:schemeClr val="accent5"/>
                </a:solidFill>
              </a:rPr>
              <a:t>And Jane Street now runs AI on custom Etched chips.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latin typeface="Arial" pitchFamily="34" charset="0"/>
                <a:ea typeface="Arial" pitchFamily="34" charset="-122"/>
                <a:cs typeface="Arial" pitchFamily="34" charset="-120"/>
              </a:rPr>
              <a:t>When the rule breaks</a:t>
            </a:r>
            <a:endParaRPr lang="en-US" sz="3600" dirty="0"/>
          </a:p>
        </p:txBody>
      </p:sp>
      <p:sp>
        <p:nvSpPr>
          <p:cNvPr id="3" name="Basis explainer"/>
          <p:cNvSpPr txBox="1"/>
          <p:nvPr/>
        </p:nvSpPr>
        <p:spPr>
          <a:xfrm>
            <a:off x="548640" y="1234440"/>
            <a:ext cx="11064240" cy="411480"/>
          </a:xfrm>
          <a:prstGeom prst="rect">
            <a:avLst/>
          </a:prstGeom>
          <a:noFill/>
          <a:ln/>
        </p:spPr>
        <p:txBody>
          <a:bodyPr wrap="square" lIns="0" tIns="0" rIns="0" bIns="0" rtlCol="0" anchor="ctr"/>
          <a:lstStyle/>
          <a:p>
            <a:pPr indent="0" marL="0">
              <a:buNone/>
            </a:pPr>
            <a:r>
              <a:rPr lang="en-US" sz="1800" dirty="0">
                <a:solidFill>
                  <a:schemeClr val="accent5"/>
                </a:solidFill>
              </a:rPr>
              <a:t>IF300 futures and the ETF track the same 300 stocks. Normally, the gap stays within about ±20 points.</a:t>
            </a:r>
            <a:endParaRPr lang="en-US" sz="1800" dirty="0"/>
          </a:p>
        </p:txBody>
      </p:sp>
      <p:pic>
        <p:nvPicPr>
          <p:cNvPr id="4" name="Basis spread chart" descr="Illustrative basis spread: normal within ±20, blows out to about 190, closed at 80, rebuilt at 180, then converges">    </p:cNvPr>
          <p:cNvPicPr>
            <a:picLocks noChangeAspect="1"/>
          </p:cNvPicPr>
          <p:nvPr/>
        </p:nvPicPr>
        <p:blipFill>
          <a:blip r:embed="rId1"/>
          <a:stretch>
            <a:fillRect/>
          </a:stretch>
        </p:blipFill>
        <p:spPr>
          <a:xfrm>
            <a:off x="502920" y="1737360"/>
            <a:ext cx="11183112" cy="500176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latin typeface="Arial" pitchFamily="34" charset="0"/>
                <a:ea typeface="Arial" pitchFamily="34" charset="-122"/>
                <a:cs typeface="Arial" pitchFamily="34" charset="-120"/>
              </a:rPr>
              <a:t>Sometimes there is no second chance</a:t>
            </a:r>
            <a:endParaRPr lang="en-US" sz="3600" dirty="0"/>
          </a:p>
        </p:txBody>
      </p:sp>
      <p:sp>
        <p:nvSpPr>
          <p:cNvPr id="3" name="Taken card"/>
          <p:cNvSpPr/>
          <p:nvPr/>
        </p:nvSpPr>
        <p:spPr>
          <a:xfrm>
            <a:off x="548640" y="1645920"/>
            <a:ext cx="4754880" cy="2834640"/>
          </a:xfrm>
          <a:prstGeom prst="roundRect">
            <a:avLst>
              <a:gd name="adj" fmla="val 3871"/>
            </a:avLst>
          </a:prstGeom>
          <a:solidFill>
            <a:schemeClr val="accent6"/>
          </a:solidFill>
          <a:ln w="12700">
            <a:solidFill>
              <a:schemeClr val="accent6"/>
            </a:solidFill>
            <a:prstDash val="solid"/>
          </a:ln>
        </p:spPr>
      </p:sp>
      <p:sp>
        <p:nvSpPr>
          <p:cNvPr id="4" name="Taken number"/>
          <p:cNvSpPr txBox="1"/>
          <p:nvPr/>
        </p:nvSpPr>
        <p:spPr>
          <a:xfrm>
            <a:off x="914400" y="1874520"/>
            <a:ext cx="4023360" cy="1371600"/>
          </a:xfrm>
          <a:prstGeom prst="rect">
            <a:avLst/>
          </a:prstGeom>
          <a:noFill/>
          <a:ln/>
        </p:spPr>
        <p:txBody>
          <a:bodyPr wrap="square" lIns="0" tIns="0" rIns="0" bIns="0" rtlCol="0" anchor="ctr"/>
          <a:lstStyle/>
          <a:p>
            <a:pPr indent="0" marL="0">
              <a:buNone/>
            </a:pPr>
            <a:r>
              <a:rPr lang="en-US" sz="7200" b="1" dirty="0">
                <a:solidFill>
                  <a:schemeClr val="accent2"/>
                </a:solidFill>
                <a:latin typeface="Arial" pitchFamily="34" charset="0"/>
                <a:ea typeface="Arial" pitchFamily="34" charset="-122"/>
                <a:cs typeface="Arial" pitchFamily="34" charset="-120"/>
              </a:rPr>
              <a:t>−50M</a:t>
            </a:r>
            <a:endParaRPr lang="en-US" sz="7200" dirty="0"/>
          </a:p>
        </p:txBody>
      </p:sp>
      <p:sp>
        <p:nvSpPr>
          <p:cNvPr id="5" name="Taken label"/>
          <p:cNvSpPr txBox="1"/>
          <p:nvPr/>
        </p:nvSpPr>
        <p:spPr>
          <a:xfrm>
            <a:off x="914400" y="3383280"/>
            <a:ext cx="4023360" cy="868680"/>
          </a:xfrm>
          <a:prstGeom prst="rect">
            <a:avLst/>
          </a:prstGeom>
          <a:noFill/>
          <a:ln/>
        </p:spPr>
        <p:txBody>
          <a:bodyPr wrap="square" lIns="0" tIns="0" rIns="0" bIns="0" rtlCol="0" anchor="t"/>
          <a:lstStyle/>
          <a:p>
            <a:pPr indent="0" marL="0">
              <a:buNone/>
            </a:pPr>
            <a:r>
              <a:rPr lang="en-US" sz="2200" dirty="0">
                <a:solidFill>
                  <a:schemeClr val="bg2"/>
                </a:solidFill>
              </a:rPr>
              <a:t>RMB loss we took by cutting the position</a:t>
            </a:r>
            <a:endParaRPr lang="en-US" sz="2200" dirty="0"/>
          </a:p>
        </p:txBody>
      </p:sp>
      <p:sp>
        <p:nvSpPr>
          <p:cNvPr id="6" name="Avoided card"/>
          <p:cNvSpPr/>
          <p:nvPr/>
        </p:nvSpPr>
        <p:spPr>
          <a:xfrm>
            <a:off x="6858000" y="1645920"/>
            <a:ext cx="4754880" cy="2834640"/>
          </a:xfrm>
          <a:prstGeom prst="roundRect">
            <a:avLst>
              <a:gd name="adj" fmla="val 3871"/>
            </a:avLst>
          </a:prstGeom>
          <a:solidFill>
            <a:schemeClr val="accent6"/>
          </a:solidFill>
          <a:ln w="12700">
            <a:solidFill>
              <a:schemeClr val="accent6"/>
            </a:solidFill>
            <a:prstDash val="solid"/>
          </a:ln>
        </p:spPr>
      </p:sp>
      <p:sp>
        <p:nvSpPr>
          <p:cNvPr id="7" name="Avoided number"/>
          <p:cNvSpPr txBox="1"/>
          <p:nvPr/>
        </p:nvSpPr>
        <p:spPr>
          <a:xfrm>
            <a:off x="7223760" y="1874520"/>
            <a:ext cx="4023360" cy="1371600"/>
          </a:xfrm>
          <a:prstGeom prst="rect">
            <a:avLst/>
          </a:prstGeom>
          <a:noFill/>
          <a:ln/>
        </p:spPr>
        <p:txBody>
          <a:bodyPr wrap="square" lIns="0" tIns="0" rIns="0" bIns="0" rtlCol="0" anchor="ctr"/>
          <a:lstStyle/>
          <a:p>
            <a:pPr indent="0" marL="0">
              <a:buNone/>
            </a:pPr>
            <a:r>
              <a:rPr lang="en-US" sz="7200" b="1" dirty="0">
                <a:solidFill>
                  <a:schemeClr val="accent5"/>
                </a:solidFill>
                <a:latin typeface="Arial" pitchFamily="34" charset="0"/>
                <a:ea typeface="Arial" pitchFamily="34" charset="-122"/>
                <a:cs typeface="Arial" pitchFamily="34" charset="-120"/>
              </a:rPr>
              <a:t>−200M</a:t>
            </a:r>
            <a:endParaRPr lang="en-US" sz="7200" dirty="0"/>
          </a:p>
        </p:txBody>
      </p:sp>
      <p:sp>
        <p:nvSpPr>
          <p:cNvPr id="8" name="Avoided label"/>
          <p:cNvSpPr txBox="1"/>
          <p:nvPr/>
        </p:nvSpPr>
        <p:spPr>
          <a:xfrm>
            <a:off x="7223760" y="3383280"/>
            <a:ext cx="4023360" cy="868680"/>
          </a:xfrm>
          <a:prstGeom prst="rect">
            <a:avLst/>
          </a:prstGeom>
          <a:noFill/>
          <a:ln/>
        </p:spPr>
        <p:txBody>
          <a:bodyPr wrap="square" lIns="0" tIns="0" rIns="0" bIns="0" rtlCol="0" anchor="t"/>
          <a:lstStyle/>
          <a:p>
            <a:pPr indent="0" marL="0">
              <a:buNone/>
            </a:pPr>
            <a:r>
              <a:rPr lang="en-US" sz="2200" dirty="0">
                <a:solidFill>
                  <a:schemeClr val="bg2"/>
                </a:solidFill>
              </a:rPr>
              <a:t>RMB loss if we had held (the stock was later liquidated)</a:t>
            </a:r>
            <a:endParaRPr lang="en-US" sz="2200" dirty="0"/>
          </a:p>
        </p:txBody>
      </p:sp>
      <p:sp>
        <p:nvSpPr>
          <p:cNvPr id="9" name="Saved pill"/>
          <p:cNvSpPr/>
          <p:nvPr/>
        </p:nvSpPr>
        <p:spPr>
          <a:xfrm>
            <a:off x="5212080" y="2743200"/>
            <a:ext cx="1737360" cy="640080"/>
          </a:xfrm>
          <a:prstGeom prst="roundRect">
            <a:avLst>
              <a:gd name="adj" fmla="val 50000"/>
            </a:avLst>
          </a:prstGeom>
          <a:solidFill>
            <a:srgbClr val="16191E"/>
          </a:solidFill>
          <a:ln w="19050">
            <a:solidFill>
              <a:schemeClr val="accent3"/>
            </a:solidFill>
            <a:prstDash val="solid"/>
          </a:ln>
        </p:spPr>
      </p:sp>
      <p:sp>
        <p:nvSpPr>
          <p:cNvPr id="10" name="Saved text"/>
          <p:cNvSpPr txBox="1"/>
          <p:nvPr/>
        </p:nvSpPr>
        <p:spPr>
          <a:xfrm>
            <a:off x="5212080" y="2743200"/>
            <a:ext cx="1737360" cy="640080"/>
          </a:xfrm>
          <a:prstGeom prst="rect">
            <a:avLst/>
          </a:prstGeom>
          <a:noFill/>
          <a:ln/>
        </p:spPr>
        <p:txBody>
          <a:bodyPr wrap="square" lIns="0" tIns="0" rIns="0" bIns="0" rtlCol="0" anchor="ctr"/>
          <a:lstStyle/>
          <a:p>
            <a:pPr algn="ctr" indent="0" marL="0">
              <a:buNone/>
            </a:pPr>
            <a:r>
              <a:rPr lang="en-US" sz="1800" b="1" dirty="0">
                <a:solidFill>
                  <a:schemeClr val="accent3"/>
                </a:solidFill>
              </a:rPr>
              <a:t>150M saved</a:t>
            </a:r>
            <a:endParaRPr lang="en-US" sz="1800" dirty="0"/>
          </a:p>
        </p:txBody>
      </p:sp>
      <p:sp>
        <p:nvSpPr>
          <p:cNvPr id="11" name="Takeaway"/>
          <p:cNvSpPr txBox="1"/>
          <p:nvPr/>
        </p:nvSpPr>
        <p:spPr>
          <a:xfrm>
            <a:off x="548640" y="5029200"/>
            <a:ext cx="11064240" cy="822960"/>
          </a:xfrm>
          <a:prstGeom prst="rect">
            <a:avLst/>
          </a:prstGeom>
          <a:noFill/>
          <a:ln/>
        </p:spPr>
        <p:txBody>
          <a:bodyPr wrap="square" lIns="0" tIns="0" rIns="0" bIns="0" rtlCol="0" anchor="ctr"/>
          <a:lstStyle/>
          <a:p>
            <a:pPr indent="0" marL="0">
              <a:buNone/>
            </a:pPr>
            <a:r>
              <a:rPr lang="en-US" sz="2600" b="1" i="1" dirty="0">
                <a:solidFill>
                  <a:schemeClr val="accent1"/>
                </a:solidFill>
              </a:rPr>
              <a:t>We know the 200M now. I had to decide before anyone knew, with no prior data like it.</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latin typeface="Arial" pitchFamily="34" charset="0"/>
                <a:ea typeface="Arial" pitchFamily="34" charset="-122"/>
                <a:cs typeface="Arial" pitchFamily="34" charset="-120"/>
              </a:rPr>
              <a:t>Would you authorize the exit?</a:t>
            </a:r>
            <a:endParaRPr lang="en-US" sz="3600" dirty="0"/>
          </a:p>
        </p:txBody>
      </p:sp>
      <p:sp>
        <p:nvSpPr>
          <p:cNvPr id="3" name="Scenario"/>
          <p:cNvSpPr txBox="1"/>
          <p:nvPr/>
        </p:nvSpPr>
        <p:spPr>
          <a:xfrm>
            <a:off x="548640" y="1371600"/>
            <a:ext cx="11064240" cy="1097280"/>
          </a:xfrm>
          <a:prstGeom prst="rect">
            <a:avLst/>
          </a:prstGeom>
          <a:noFill/>
          <a:ln/>
        </p:spPr>
        <p:txBody>
          <a:bodyPr wrap="square" lIns="0" tIns="0" rIns="0" bIns="0" rtlCol="0" anchor="ctr"/>
          <a:lstStyle/>
          <a:p>
            <a:pPr indent="0" marL="0">
              <a:buNone/>
            </a:pPr>
            <a:r>
              <a:rPr lang="en-US" sz="2600" dirty="0">
                <a:solidFill>
                  <a:schemeClr val="bg2"/>
                </a:solidFill>
              </a:rPr>
              <a:t>An AI recommends closing a position and realizing a large loss. You cannot yet know whether it is right.</a:t>
            </a:r>
            <a:endParaRPr lang="en-US" sz="2600" dirty="0"/>
          </a:p>
        </p:txBody>
      </p:sp>
      <p:sp>
        <p:nvSpPr>
          <p:cNvPr id="4" name="Choice A card"/>
          <p:cNvSpPr/>
          <p:nvPr/>
        </p:nvSpPr>
        <p:spPr>
          <a:xfrm>
            <a:off x="548640" y="2834640"/>
            <a:ext cx="5303520" cy="1828800"/>
          </a:xfrm>
          <a:prstGeom prst="roundRect">
            <a:avLst>
              <a:gd name="adj" fmla="val 6000"/>
            </a:avLst>
          </a:prstGeom>
          <a:solidFill>
            <a:schemeClr val="accent6"/>
          </a:solidFill>
          <a:ln w="25400">
            <a:solidFill>
              <a:schemeClr val="accent4"/>
            </a:solidFill>
            <a:prstDash val="solid"/>
          </a:ln>
        </p:spPr>
      </p:sp>
      <p:sp>
        <p:nvSpPr>
          <p:cNvPr id="5" name="Choice A letter"/>
          <p:cNvSpPr txBox="1"/>
          <p:nvPr/>
        </p:nvSpPr>
        <p:spPr>
          <a:xfrm>
            <a:off x="914400" y="3017520"/>
            <a:ext cx="914400" cy="1463040"/>
          </a:xfrm>
          <a:prstGeom prst="rect">
            <a:avLst/>
          </a:prstGeom>
          <a:noFill/>
          <a:ln/>
        </p:spPr>
        <p:txBody>
          <a:bodyPr wrap="square" lIns="0" tIns="0" rIns="0" bIns="0" rtlCol="0" anchor="ctr"/>
          <a:lstStyle/>
          <a:p>
            <a:pPr indent="0" marL="0">
              <a:buNone/>
            </a:pPr>
            <a:r>
              <a:rPr lang="en-US" sz="6000" b="1" dirty="0">
                <a:solidFill>
                  <a:schemeClr val="accent4"/>
                </a:solidFill>
                <a:latin typeface="Arial" pitchFamily="34" charset="0"/>
                <a:ea typeface="Arial" pitchFamily="34" charset="-122"/>
                <a:cs typeface="Arial" pitchFamily="34" charset="-120"/>
              </a:rPr>
              <a:t>A</a:t>
            </a:r>
            <a:endParaRPr lang="en-US" sz="6000" dirty="0"/>
          </a:p>
        </p:txBody>
      </p:sp>
      <p:sp>
        <p:nvSpPr>
          <p:cNvPr id="6" name="Choice A text"/>
          <p:cNvSpPr txBox="1"/>
          <p:nvPr/>
        </p:nvSpPr>
        <p:spPr>
          <a:xfrm>
            <a:off x="1920240" y="3017520"/>
            <a:ext cx="3657600" cy="1463040"/>
          </a:xfrm>
          <a:prstGeom prst="rect">
            <a:avLst/>
          </a:prstGeom>
          <a:noFill/>
          <a:ln/>
        </p:spPr>
        <p:txBody>
          <a:bodyPr wrap="square" lIns="0" tIns="0" rIns="0" bIns="0" rtlCol="0" anchor="ctr"/>
          <a:lstStyle/>
          <a:p>
            <a:pPr indent="0" marL="0">
              <a:buNone/>
            </a:pPr>
            <a:r>
              <a:rPr lang="en-US" sz="2600" b="1" dirty="0">
                <a:solidFill>
                  <a:schemeClr val="bg1"/>
                </a:solidFill>
              </a:rPr>
              <a:t>Let the AI execute</a:t>
            </a:r>
            <a:endParaRPr lang="en-US" sz="2600" dirty="0"/>
          </a:p>
        </p:txBody>
      </p:sp>
      <p:sp>
        <p:nvSpPr>
          <p:cNvPr id="7" name="Choice B card"/>
          <p:cNvSpPr/>
          <p:nvPr/>
        </p:nvSpPr>
        <p:spPr>
          <a:xfrm>
            <a:off x="6309360" y="2834640"/>
            <a:ext cx="5303520" cy="1828800"/>
          </a:xfrm>
          <a:prstGeom prst="roundRect">
            <a:avLst>
              <a:gd name="adj" fmla="val 6000"/>
            </a:avLst>
          </a:prstGeom>
          <a:solidFill>
            <a:schemeClr val="accent6"/>
          </a:solidFill>
          <a:ln w="25400">
            <a:solidFill>
              <a:schemeClr val="accent1"/>
            </a:solidFill>
            <a:prstDash val="solid"/>
          </a:ln>
        </p:spPr>
      </p:sp>
      <p:sp>
        <p:nvSpPr>
          <p:cNvPr id="8" name="Choice B letter"/>
          <p:cNvSpPr txBox="1"/>
          <p:nvPr/>
        </p:nvSpPr>
        <p:spPr>
          <a:xfrm>
            <a:off x="6675120" y="3017520"/>
            <a:ext cx="914400" cy="1463040"/>
          </a:xfrm>
          <a:prstGeom prst="rect">
            <a:avLst/>
          </a:prstGeom>
          <a:noFill/>
          <a:ln/>
        </p:spPr>
        <p:txBody>
          <a:bodyPr wrap="square" lIns="0" tIns="0" rIns="0" bIns="0" rtlCol="0" anchor="ctr"/>
          <a:lstStyle/>
          <a:p>
            <a:pPr indent="0" marL="0">
              <a:buNone/>
            </a:pPr>
            <a:r>
              <a:rPr lang="en-US" sz="6000" b="1" dirty="0">
                <a:solidFill>
                  <a:schemeClr val="accent1"/>
                </a:solidFill>
                <a:latin typeface="Arial" pitchFamily="34" charset="0"/>
                <a:ea typeface="Arial" pitchFamily="34" charset="-122"/>
                <a:cs typeface="Arial" pitchFamily="34" charset="-120"/>
              </a:rPr>
              <a:t>B</a:t>
            </a:r>
            <a:endParaRPr lang="en-US" sz="6000" dirty="0"/>
          </a:p>
        </p:txBody>
      </p:sp>
      <p:sp>
        <p:nvSpPr>
          <p:cNvPr id="9" name="Choice B text"/>
          <p:cNvSpPr txBox="1"/>
          <p:nvPr/>
        </p:nvSpPr>
        <p:spPr>
          <a:xfrm>
            <a:off x="7680960" y="3017520"/>
            <a:ext cx="3657600" cy="1463040"/>
          </a:xfrm>
          <a:prstGeom prst="rect">
            <a:avLst/>
          </a:prstGeom>
          <a:noFill/>
          <a:ln/>
        </p:spPr>
        <p:txBody>
          <a:bodyPr wrap="square" lIns="0" tIns="0" rIns="0" bIns="0" rtlCol="0" anchor="ctr"/>
          <a:lstStyle/>
          <a:p>
            <a:pPr indent="0" marL="0">
              <a:buNone/>
            </a:pPr>
            <a:r>
              <a:rPr lang="en-US" sz="2600" b="1" dirty="0">
                <a:solidFill>
                  <a:schemeClr val="bg1"/>
                </a:solidFill>
              </a:rPr>
              <a:t>Require human approval</a:t>
            </a:r>
            <a:endParaRPr lang="en-US" sz="2600" dirty="0"/>
          </a:p>
        </p:txBody>
      </p:sp>
      <p:sp>
        <p:nvSpPr>
          <p:cNvPr id="10" name="Follow-up"/>
          <p:cNvSpPr txBox="1"/>
          <p:nvPr/>
        </p:nvSpPr>
        <p:spPr>
          <a:xfrm>
            <a:off x="548640" y="5257800"/>
            <a:ext cx="11064240" cy="731520"/>
          </a:xfrm>
          <a:prstGeom prst="rect">
            <a:avLst/>
          </a:prstGeom>
          <a:noFill/>
          <a:ln/>
        </p:spPr>
        <p:txBody>
          <a:bodyPr wrap="square" lIns="0" tIns="0" rIns="0" bIns="0" rtlCol="0" anchor="ctr"/>
          <a:lstStyle/>
          <a:p>
            <a:pPr algn="ctr" indent="0" marL="0">
              <a:buNone/>
            </a:pPr>
            <a:r>
              <a:rPr lang="en-US" sz="3000" b="1" i="1" dirty="0">
                <a:solidFill>
                  <a:schemeClr val="accent1"/>
                </a:solidFill>
                <a:latin typeface="Arial" pitchFamily="34" charset="0"/>
                <a:ea typeface="Arial" pitchFamily="34" charset="-122"/>
                <a:cs typeface="Arial" pitchFamily="34" charset="-120"/>
              </a:rPr>
              <a:t>What would change your answer?</a:t>
            </a:r>
            <a:endParaRPr lang="en-US" sz="3000" dirty="0"/>
          </a:p>
        </p:txBody>
      </p:sp>
    </p:spTree>
  </p:cSld>
  <p:clrMapOvr>
    <a:masterClrMapping/>
  </p:clrMapOvr>
</p:sld>
</file>

<file path=ppt/theme/theme1.xml><?xml version="1.0" encoding="utf-8"?>
<a:theme xmlns:a="http://schemas.openxmlformats.org/drawingml/2006/main" name="Trading Room">
  <a:themeElements>
    <a:clrScheme name="Trading Room">
      <a:dk1>
        <a:srgbClr val="16191E"/>
      </a:dk1>
      <a:lt1>
        <a:srgbClr val="FFFFFF"/>
      </a:lt1>
      <a:dk2>
        <a:srgbClr val="2A2F37"/>
      </a:dk2>
      <a:lt2>
        <a:srgbClr val="F2F2F2"/>
      </a:lt2>
      <a:accent1>
        <a:srgbClr val="F2B544"/>
      </a:accent1>
      <a:accent2>
        <a:srgbClr val="FF6B6B"/>
      </a:accent2>
      <a:accent3>
        <a:srgbClr val="3DDC97"/>
      </a:accent3>
      <a:accent4>
        <a:srgbClr val="7FB2F0"/>
      </a:accent4>
      <a:accent5>
        <a:srgbClr val="9AA3AD"/>
      </a:accent5>
      <a:accent6>
        <a:srgbClr val="22262D"/>
      </a:accent6>
      <a:hlink>
        <a:srgbClr val="7FB2F0"/>
      </a:hlink>
      <a:folHlink>
        <a:srgbClr val="9AA3AD"/>
      </a:folHlink>
    </a:clrScheme>
    <a:fontScheme name="Trading Roo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Would AI Have Made My Trade?</dc:title>
  <dc:subject>PptxGenJS Presentation</dc:subject>
  <dc:creator>Yashu</dc:creator>
  <cp:lastModifiedBy>Yashu</cp:lastModifiedBy>
  <cp:revision>1</cp:revision>
  <dcterms:created xsi:type="dcterms:W3CDTF">2026-10-20T03:39:42Z</dcterms:created>
  <dcterms:modified xsi:type="dcterms:W3CDTF">2026-10-20T03:39:42Z</dcterms:modified>
</cp:coreProperties>
</file>